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147481422" r:id="rId3"/>
    <p:sldId id="290" r:id="rId4"/>
    <p:sldId id="2147481409" r:id="rId5"/>
    <p:sldId id="2147481389" r:id="rId6"/>
    <p:sldId id="2147481411" r:id="rId7"/>
    <p:sldId id="2147481410" r:id="rId8"/>
    <p:sldId id="2147481412" r:id="rId9"/>
    <p:sldId id="2147481413" r:id="rId10"/>
    <p:sldId id="2147481414" r:id="rId11"/>
    <p:sldId id="2147481424" r:id="rId12"/>
    <p:sldId id="2147481421" r:id="rId13"/>
    <p:sldId id="2147481426" r:id="rId14"/>
    <p:sldId id="2147481415" r:id="rId15"/>
    <p:sldId id="2147481423" r:id="rId16"/>
    <p:sldId id="2147481416" r:id="rId17"/>
    <p:sldId id="2147481420" r:id="rId18"/>
    <p:sldId id="2147481417" r:id="rId19"/>
    <p:sldId id="2147481425" r:id="rId20"/>
    <p:sldId id="275" r:id="rId21"/>
  </p:sldIdLst>
  <p:sldSz cx="9144000" cy="5143500" type="screen16x9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cholas.car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40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1"/>
    <p:restoredTop sz="94658"/>
  </p:normalViewPr>
  <p:slideViewPr>
    <p:cSldViewPr snapToGrid="0" snapToObjects="1">
      <p:cViewPr>
        <p:scale>
          <a:sx n="175" d="100"/>
          <a:sy n="175" d="100"/>
        </p:scale>
        <p:origin x="5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5862" cy="49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0294" y="1"/>
            <a:ext cx="2945862" cy="49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79464" y="4714653"/>
            <a:ext cx="5438748" cy="4466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27766"/>
            <a:ext cx="2945862" cy="497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464" y="4714653"/>
            <a:ext cx="5438748" cy="4466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Shape 87"/>
          <p:cNvSpPr txBox="1">
            <a:spLocks noGrp="1"/>
          </p:cNvSpPr>
          <p:nvPr>
            <p:ph type="sldNum" idx="12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F21DF-24A5-4DB7-93CB-DC4D3AB6B380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86984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679464" y="4714653"/>
            <a:ext cx="5438748" cy="4466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Shape 254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4400"/>
              <a:buFont typeface="Avenir"/>
              <a:buNone/>
              <a:defRPr sz="33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3400"/>
              <a:buFont typeface="Arial"/>
              <a:buNone/>
              <a:defRPr sz="255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ctr" rtl="0">
              <a:spcBef>
                <a:spcPts val="45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4400"/>
              <a:buFont typeface="Avenir"/>
              <a:buNone/>
              <a:defRPr sz="33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33375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3400"/>
              <a:buFont typeface="Arial"/>
              <a:buChar char="•"/>
              <a:defRPr sz="255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304800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sz="21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285750" algn="l" rtl="0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266700" algn="l" rtl="0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266700" algn="l" rtl="0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»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4000"/>
              <a:buFont typeface="Avenir"/>
              <a:buNone/>
              <a:defRPr sz="30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171450" algn="l" rtl="0">
              <a:spcBef>
                <a:spcPts val="45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171450" algn="l" rtl="0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171450" algn="l" rtl="0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171450" algn="l" rtl="0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171450" algn="l" rtl="0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4400"/>
              <a:buFont typeface="Avenir"/>
              <a:buNone/>
              <a:defRPr sz="33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2400"/>
              <a:buFont typeface="Arial"/>
              <a:buNone/>
              <a:defRPr sz="18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171450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1500" b="1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171450" algn="l" rtl="0">
              <a:spcBef>
                <a:spcPts val="27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350" b="1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171450" algn="l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200" b="1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171450" algn="l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200" b="1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1714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266700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257175" algn="l" rtl="0">
              <a:spcBef>
                <a:spcPts val="27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247650" algn="l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247650" algn="l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»"/>
              <a:defRPr sz="12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2476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476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476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476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2400"/>
              <a:buFont typeface="Arial"/>
              <a:buNone/>
              <a:defRPr sz="18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171450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1500" b="1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171450" algn="l" rtl="0">
              <a:spcBef>
                <a:spcPts val="27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350" b="1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171450" algn="l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200" b="1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171450" algn="l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200" b="1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1714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266700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257175" algn="l" rtl="0">
              <a:spcBef>
                <a:spcPts val="27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247650" algn="l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247650" algn="l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»"/>
              <a:defRPr sz="12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2476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476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476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4765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4400"/>
              <a:buFont typeface="Avenir"/>
              <a:buNone/>
              <a:defRPr sz="33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000"/>
              <a:buFont typeface="Avenir"/>
              <a:buNone/>
              <a:defRPr sz="15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23850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3200"/>
              <a:buFont typeface="Arial"/>
              <a:buChar char="•"/>
              <a:defRPr sz="240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304800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sz="21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285750" algn="l" rtl="0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266700" algn="l" rtl="0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266700" algn="l" rtl="0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»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171450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171450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171450" algn="l" rtl="0">
              <a:spcBef>
                <a:spcPts val="15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  <a:defRPr sz="75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171450" algn="l" rtl="0">
              <a:spcBef>
                <a:spcPts val="135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None/>
              <a:defRPr sz="675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171450" algn="l" rtl="0">
              <a:spcBef>
                <a:spcPts val="135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None/>
              <a:defRPr sz="675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17145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000"/>
              <a:buFont typeface="Avenir"/>
              <a:buNone/>
              <a:defRPr sz="15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3200"/>
              <a:buFont typeface="Arial"/>
              <a:buNone/>
              <a:defRPr sz="240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1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171450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171450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171450" algn="l" rtl="0">
              <a:spcBef>
                <a:spcPts val="15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  <a:defRPr sz="75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171450" algn="l" rtl="0">
              <a:spcBef>
                <a:spcPts val="135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None/>
              <a:defRPr sz="675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171450" algn="l" rtl="0">
              <a:spcBef>
                <a:spcPts val="135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None/>
              <a:defRPr sz="675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17145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4400"/>
              <a:buFont typeface="Avenir"/>
              <a:buNone/>
              <a:defRPr sz="33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33375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3400"/>
              <a:buFont typeface="Arial"/>
              <a:buChar char="•"/>
              <a:defRPr sz="255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304800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sz="21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285750" algn="l" rtl="0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266700" algn="l" rtl="0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266700" algn="l" rtl="0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»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4400"/>
              <a:buFont typeface="Avenir"/>
              <a:buNone/>
              <a:defRPr sz="33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 rot="5400000">
            <a:off x="1272779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33375" algn="l" rtl="0"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3400"/>
              <a:buFont typeface="Arial"/>
              <a:buChar char="•"/>
              <a:defRPr sz="255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304800" algn="l" rtl="0"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sz="21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285750" algn="l" rtl="0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266700" algn="l" rtl="0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266700" algn="l" rtl="0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»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FBEA8D8F-D1C2-3D1D-B2F9-25EA8E3BD5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834" y="314589"/>
            <a:ext cx="8377166" cy="70500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/>
              <a:t>Slide title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AB383E3-14E6-CCD6-F17C-F2C61579DC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76935" y="4476399"/>
            <a:ext cx="380700" cy="380700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DE20C1-0EC3-D51F-0A58-29C0ADC9D1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5834" y="1309778"/>
            <a:ext cx="7898606" cy="35473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7642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4400"/>
              <a:buFont typeface="Avenir"/>
              <a:buNone/>
              <a:defRPr sz="4400" b="1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44500" algn="l" rtl="0">
              <a:spcBef>
                <a:spcPts val="1000"/>
              </a:spcBef>
              <a:spcAft>
                <a:spcPts val="0"/>
              </a:spcAft>
              <a:buClr>
                <a:srgbClr val="244061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ca-posc-caesar-association.github.io/Public_ISO23726-1/lates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Melinda.Hodkiewicz@uwa.edu.au" TargetMode="External"/><Relationship Id="rId4" Type="http://schemas.openxmlformats.org/officeDocument/2006/relationships/hyperlink" Target="https://posccaesar.org/articles/fdis-version-of-ido---industrial-data-ontology-now-available-for-download-as-a-file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pypi.org/project/kurra/" TargetMode="External"/><Relationship Id="rId7" Type="http://schemas.openxmlformats.org/officeDocument/2006/relationships/image" Target="../media/image7.png"/><Relationship Id="rId2" Type="http://schemas.openxmlformats.org/officeDocument/2006/relationships/hyperlink" Target="https://rdflib.de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ybinder.org/v2/gh/Kurrawong/sparql-training-live/HEAD?urlpath=%2Fdoc%2Ftree%2Fmodule-1.ipynb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pypi.org/project/kgm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dirty="0"/>
              <a:t>AGLDWG AGM 2026 </a:t>
            </a:r>
            <a:br>
              <a:rPr lang="en-US" dirty="0"/>
            </a:br>
            <a:r>
              <a:rPr lang="en-US" dirty="0"/>
              <a:t>Project Presentations</a:t>
            </a:r>
            <a:endParaRPr dirty="0"/>
          </a:p>
        </p:txBody>
      </p:sp>
      <p:sp>
        <p:nvSpPr>
          <p:cNvPr id="90" name="Shape 90"/>
          <p:cNvSpPr txBox="1">
            <a:spLocks noGrp="1"/>
          </p:cNvSpPr>
          <p:nvPr>
            <p:ph type="subTitle" idx="1"/>
          </p:nvPr>
        </p:nvSpPr>
        <p:spPr>
          <a:xfrm>
            <a:off x="1819275" y="2914650"/>
            <a:ext cx="578839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AU" dirty="0">
                <a:solidFill>
                  <a:srgbClr val="000000"/>
                </a:solidFill>
              </a:rPr>
              <a:t>Multiple AGLDWG Members</a:t>
            </a:r>
            <a:endParaRPr sz="1500" dirty="0"/>
          </a:p>
        </p:txBody>
      </p:sp>
      <p:pic>
        <p:nvPicPr>
          <p:cNvPr id="91" name="Shape 91" descr="AGLDWG logo"/>
          <p:cNvPicPr preferRelativeResize="0"/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58992" y="0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0DF1-73AD-0F47-7E3B-E69FF825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50BD6-6E4D-1590-60C2-2092A1CB7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4114800" cy="3394472"/>
          </a:xfrm>
        </p:spPr>
        <p:txBody>
          <a:bodyPr/>
          <a:lstStyle/>
          <a:p>
            <a:pPr marL="523875" indent="-514350">
              <a:buFont typeface="+mj-lt"/>
              <a:buAutoNum type="arabicPeriod"/>
            </a:pPr>
            <a:r>
              <a:rPr lang="en-US" dirty="0"/>
              <a:t>Melinda Hodkiewicz</a:t>
            </a:r>
          </a:p>
          <a:p>
            <a:pPr marL="523875" indent="-514350">
              <a:buFont typeface="+mj-lt"/>
              <a:buAutoNum type="arabicPeriod"/>
            </a:pPr>
            <a:r>
              <a:rPr lang="en-US" dirty="0"/>
              <a:t>Les Kneebone</a:t>
            </a:r>
          </a:p>
          <a:p>
            <a:pPr marL="523875" indent="-514350">
              <a:buFont typeface="+mj-lt"/>
              <a:buAutoNum type="arabicPeriod"/>
            </a:pPr>
            <a:r>
              <a:rPr lang="en-US" dirty="0"/>
              <a:t>Matt Duckham</a:t>
            </a:r>
          </a:p>
          <a:p>
            <a:pPr marL="523875" indent="-514350">
              <a:buFont typeface="+mj-lt"/>
              <a:buAutoNum type="arabicPeriod"/>
            </a:pPr>
            <a:r>
              <a:rPr lang="en-US" dirty="0"/>
              <a:t>Edmond Chuc</a:t>
            </a:r>
          </a:p>
          <a:p>
            <a:pPr marL="523875" indent="-514350">
              <a:buFont typeface="+mj-lt"/>
              <a:buAutoNum type="arabicPeriod"/>
            </a:pPr>
            <a:r>
              <a:rPr lang="en-US" dirty="0"/>
              <a:t>Heidi Leow</a:t>
            </a:r>
          </a:p>
          <a:p>
            <a:pPr marL="523875" indent="-514350">
              <a:buFont typeface="+mj-lt"/>
              <a:buAutoNum type="arabicPeriod"/>
            </a:pPr>
            <a:endParaRPr lang="en-US" dirty="0"/>
          </a:p>
          <a:p>
            <a:pPr marL="523875" indent="-514350">
              <a:buFont typeface="+mj-lt"/>
              <a:buAutoNum type="arabicPeriod"/>
            </a:pPr>
            <a:endParaRPr lang="en-US" dirty="0"/>
          </a:p>
          <a:p>
            <a:pPr marL="523875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DB7F1F6-8937-206C-975C-11D2D94BB254}"/>
              </a:ext>
            </a:extLst>
          </p:cNvPr>
          <p:cNvSpPr txBox="1">
            <a:spLocks/>
          </p:cNvSpPr>
          <p:nvPr/>
        </p:nvSpPr>
        <p:spPr>
          <a:xfrm>
            <a:off x="4572000" y="1200151"/>
            <a:ext cx="41148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33337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44061"/>
              </a:buClr>
              <a:buSzPts val="3400"/>
              <a:buFont typeface="Arial"/>
              <a:buChar char="•"/>
              <a:defRPr sz="2550" b="0" i="0" u="none" strike="noStrike" cap="none">
                <a:solidFill>
                  <a:srgbClr val="24406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marR="0" lvl="1" indent="-3048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sz="21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marR="0" lvl="2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marR="0" lvl="3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marR="0" lvl="4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»"/>
              <a:defRPr sz="15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marR="0" lvl="5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23875" indent="-514350">
              <a:buFont typeface="+mj-lt"/>
              <a:buAutoNum type="arabicPeriod" startAt="6"/>
            </a:pPr>
            <a:r>
              <a:rPr lang="en-US" dirty="0"/>
              <a:t>Nicholas Car</a:t>
            </a:r>
          </a:p>
          <a:p>
            <a:pPr marL="523875" indent="-514350">
              <a:buFont typeface="+mj-lt"/>
              <a:buAutoNum type="arabicPeriod" startAt="6"/>
            </a:pPr>
            <a:r>
              <a:rPr lang="en-US" dirty="0"/>
              <a:t>Alastair Paton</a:t>
            </a:r>
          </a:p>
          <a:p>
            <a:pPr marL="523875" indent="-514350">
              <a:buFont typeface="+mj-lt"/>
              <a:buAutoNum type="arabicPeriod" startAt="6"/>
            </a:pPr>
            <a:r>
              <a:rPr lang="en-US" dirty="0"/>
              <a:t>Adib Rohani</a:t>
            </a:r>
          </a:p>
          <a:p>
            <a:pPr marL="523875" indent="-514350">
              <a:buFont typeface="+mj-lt"/>
              <a:buAutoNum type="arabicPeriod" startAt="6"/>
            </a:pPr>
            <a:r>
              <a:rPr lang="en-US" dirty="0"/>
              <a:t>Jamie Feiss</a:t>
            </a:r>
          </a:p>
          <a:p>
            <a:pPr marL="523875" indent="-514350">
              <a:buFont typeface="+mj-lt"/>
              <a:buAutoNum type="arabicPeriod" startAt="6"/>
            </a:pPr>
            <a:endParaRPr lang="en-US" dirty="0"/>
          </a:p>
          <a:p>
            <a:pPr marL="523875" indent="-514350">
              <a:buFont typeface="+mj-lt"/>
              <a:buAutoNum type="arabicPeriod" startAt="6"/>
            </a:pPr>
            <a:endParaRPr lang="en-US" dirty="0"/>
          </a:p>
          <a:p>
            <a:pPr marL="523875" indent="-514350">
              <a:buFont typeface="+mj-lt"/>
              <a:buAutoNum type="arabicPeriod" startAt="6"/>
            </a:pPr>
            <a:endParaRPr lang="en-US" dirty="0"/>
          </a:p>
          <a:p>
            <a:pPr marL="523875" indent="-514350">
              <a:buFont typeface="+mj-lt"/>
              <a:buAutoNum type="arabicPeriod" startAt="6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58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D4DF7-251B-879A-D80A-4F93CC733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64" y="1737968"/>
            <a:ext cx="5765555" cy="1331631"/>
          </a:xfrm>
        </p:spPr>
        <p:txBody>
          <a:bodyPr/>
          <a:lstStyle/>
          <a:p>
            <a:r>
              <a:rPr lang="en-US" dirty="0"/>
              <a:t>Ontology-based interoperability of standards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D2FFB-E83D-7A86-4531-E2108B4A0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223" y="3069599"/>
            <a:ext cx="5765555" cy="482272"/>
          </a:xfrm>
        </p:spPr>
        <p:txBody>
          <a:bodyPr/>
          <a:lstStyle/>
          <a:p>
            <a:pPr marL="9525" indent="0" algn="ctr">
              <a:buNone/>
            </a:pPr>
            <a:r>
              <a:rPr lang="en-US" sz="1800" dirty="0"/>
              <a:t>Speaker: Melinda Hodkiewicz, UWA</a:t>
            </a:r>
          </a:p>
        </p:txBody>
      </p:sp>
      <p:pic>
        <p:nvPicPr>
          <p:cNvPr id="4" name="Shape 91" descr="AGLDWG logo">
            <a:extLst>
              <a:ext uri="{FF2B5EF4-FFF2-40B4-BE49-F238E27FC236}">
                <a16:creationId xmlns:a16="http://schemas.microsoft.com/office/drawing/2014/main" id="{61873FFF-CDD4-C09D-2367-7F32736BA168}"/>
              </a:ext>
            </a:extLst>
          </p:cNvPr>
          <p:cNvPicPr preferRelativeResize="0"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82505" y="0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7182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BB98E-9273-7F16-9766-235736BA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8F787-E9DD-8E59-5ECC-2C0D94022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563" y="149931"/>
            <a:ext cx="6282875" cy="528756"/>
          </a:xfrm>
        </p:spPr>
        <p:txBody>
          <a:bodyPr/>
          <a:lstStyle/>
          <a:p>
            <a:r>
              <a:rPr lang="en-AU" sz="2025" dirty="0"/>
              <a:t>Why the </a:t>
            </a:r>
            <a:r>
              <a:rPr lang="en-GB" sz="2025" dirty="0"/>
              <a:t>Industrial automation systems and integration – Ontology based interoperability (OBI)</a:t>
            </a:r>
            <a:r>
              <a:rPr lang="en-AU" sz="2025" dirty="0"/>
              <a:t> standards?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B5EFA-97A6-8889-0C07-1282505ED3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860918"/>
            <a:ext cx="4120283" cy="4194863"/>
          </a:xfrm>
        </p:spPr>
        <p:txBody>
          <a:bodyPr>
            <a:noAutofit/>
          </a:bodyPr>
          <a:lstStyle/>
          <a:p>
            <a:r>
              <a:rPr lang="en-GB" sz="1350" dirty="0"/>
              <a:t>The Ontology based interoperability (OBI) standards facilitate digitization in </a:t>
            </a:r>
            <a:r>
              <a:rPr lang="en-GB" sz="1350" b="1" dirty="0"/>
              <a:t>long-life, asset-intensive industries </a:t>
            </a:r>
            <a:r>
              <a:rPr lang="en-GB" sz="1350" dirty="0"/>
              <a:t>through a shared, digital representation of a system's physical and functional structures and interdependencies, and data captured as part of </a:t>
            </a:r>
            <a:r>
              <a:rPr lang="en-GB" sz="1350" b="1" dirty="0"/>
              <a:t>design, purchase, operation, and maintenance decisions </a:t>
            </a:r>
            <a:r>
              <a:rPr lang="en-GB" sz="1350" dirty="0"/>
              <a:t>through the life cycle.</a:t>
            </a:r>
          </a:p>
          <a:p>
            <a:r>
              <a:rPr lang="en-GB" sz="1350" dirty="0"/>
              <a:t>Each part of the new standard utilizes IDO aligned models to represent knowledge, structured as OWL 2 DL compliant ontologies.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374F4-A1D2-12F9-4F67-62F52C08E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4"/>
          <a:stretch>
            <a:fillRect/>
          </a:stretch>
        </p:blipFill>
        <p:spPr>
          <a:xfrm>
            <a:off x="4069974" y="1076228"/>
            <a:ext cx="5074026" cy="336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90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1E51-6084-0D9F-6B7D-1A3C7C21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7334"/>
            <a:ext cx="6858000" cy="745629"/>
          </a:xfrm>
        </p:spPr>
        <p:txBody>
          <a:bodyPr>
            <a:normAutofit fontScale="90000"/>
          </a:bodyPr>
          <a:lstStyle/>
          <a:p>
            <a:r>
              <a:rPr lang="en-GB" sz="2250" i="1" dirty="0"/>
              <a:t>ISO/CD 23726-1 Overview and fundamental principles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2D8BEC-40E8-5D07-9B6C-6CF09FBAB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20" y="779168"/>
            <a:ext cx="2857059" cy="35213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900" dirty="0"/>
              <a:t>Clause 1: </a:t>
            </a:r>
            <a:r>
              <a:rPr lang="en-AU" sz="900" b="1" dirty="0"/>
              <a:t>Scope</a:t>
            </a:r>
          </a:p>
          <a:p>
            <a:pPr marL="0" indent="0">
              <a:buNone/>
            </a:pPr>
            <a:r>
              <a:rPr lang="en-AU" sz="900" dirty="0"/>
              <a:t>Clause 2: </a:t>
            </a:r>
            <a:r>
              <a:rPr lang="en-AU" sz="900" b="1" dirty="0"/>
              <a:t>Normative references</a:t>
            </a:r>
          </a:p>
          <a:p>
            <a:pPr marL="0" indent="0">
              <a:buNone/>
            </a:pPr>
            <a:r>
              <a:rPr lang="en-AU" sz="900" dirty="0"/>
              <a:t>Clause 3: </a:t>
            </a:r>
            <a:r>
              <a:rPr lang="en-AU" sz="900" b="1" dirty="0"/>
              <a:t>Terms and definitions</a:t>
            </a:r>
          </a:p>
          <a:p>
            <a:pPr marL="0" indent="0">
              <a:buNone/>
            </a:pPr>
            <a:r>
              <a:rPr lang="en-AU" sz="900" dirty="0"/>
              <a:t>Clause 4: </a:t>
            </a:r>
            <a:r>
              <a:rPr lang="en-AU" sz="900" b="1" dirty="0"/>
              <a:t>Parts of the OBI series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4.1 Overview and fundamental principles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4.2 Vocabulary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4.3 Industrial data ontology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4.4 Schedule data ontology</a:t>
            </a:r>
          </a:p>
          <a:p>
            <a:pPr marL="0" indent="0">
              <a:buNone/>
            </a:pPr>
            <a:r>
              <a:rPr lang="en-AU" sz="900" dirty="0"/>
              <a:t>Clause 5: </a:t>
            </a:r>
            <a:r>
              <a:rPr lang="en-AU" sz="900" b="1" dirty="0"/>
              <a:t>OBI ecosystem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5.1 General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5.2 Stakeholders in the OBI ecosystem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5.3 Reference ontologies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5.4 Ontology alignment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5.5 Reference data libraries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5.6 Reference to Semantic Web technologies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5.7 RDF vocabularies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sz="900" dirty="0"/>
              <a:t>5.8 Modelling templates, patterns and data quality rules-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0232CF03-9D65-7BA7-E49C-3454DDCDF4C3}"/>
              </a:ext>
            </a:extLst>
          </p:cNvPr>
          <p:cNvSpPr txBox="1">
            <a:spLocks/>
          </p:cNvSpPr>
          <p:nvPr/>
        </p:nvSpPr>
        <p:spPr>
          <a:xfrm>
            <a:off x="2974879" y="912614"/>
            <a:ext cx="2701042" cy="3776924"/>
          </a:xfrm>
          <a:prstGeom prst="rect">
            <a:avLst/>
          </a:prstGeom>
        </p:spPr>
        <p:txBody>
          <a:bodyPr vert="horz" lIns="51435" tIns="25718" rIns="51435" bIns="2571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Clause 6: </a:t>
            </a:r>
            <a:r>
              <a:rPr lang="en-AU" sz="900" b="1" dirty="0">
                <a:solidFill>
                  <a:srgbClr val="234061"/>
                </a:solidFill>
                <a:latin typeface="Avenir Book" panose="02000503020000020003" pitchFamily="2" charset="0"/>
              </a:rPr>
              <a:t>Fundamental principles and requirements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6.1 Direct Semantics consistent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6.2 Resource description framework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6.3 Digital resource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6.4 Axioms, rules and constraints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6.5 Ontology alignment, review and documentation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6.6 Annotation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6.7 Versioning and storage of artefacts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6.8 Ontology modularisation and re-use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6.9 Ontology evaluation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6.10 Ontology maintenance agencies and process</a:t>
            </a:r>
          </a:p>
          <a:p>
            <a:pPr marL="0" indent="0"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Clause 7: </a:t>
            </a:r>
            <a:r>
              <a:rPr lang="en-AU" sz="900" b="1" dirty="0">
                <a:solidFill>
                  <a:srgbClr val="234061"/>
                </a:solidFill>
                <a:latin typeface="Avenir Book" panose="02000503020000020003" pitchFamily="2" charset="0"/>
              </a:rPr>
              <a:t>Grounding in mathematical logic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AU" sz="900" dirty="0">
              <a:solidFill>
                <a:srgbClr val="234061"/>
              </a:solidFill>
              <a:latin typeface="Avenir Book" panose="02000503020000020003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Clause 8: </a:t>
            </a:r>
            <a:r>
              <a:rPr lang="en-AU" sz="900" b="1" dirty="0">
                <a:solidFill>
                  <a:srgbClr val="234061"/>
                </a:solidFill>
                <a:latin typeface="Avenir Book" panose="02000503020000020003" pitchFamily="2" charset="0"/>
              </a:rPr>
              <a:t>Ontology namespace, formatting and annotation guidelines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8.1 Ontology identifier structure and namespace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8.2 Ontology subdirectory structure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8.3 Namespace for ontology resources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8.4 Otology prefixes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8.5 Class names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8.6 Object property names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8.7 Data property names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8.8 Alignment ontologies</a:t>
            </a:r>
          </a:p>
          <a:p>
            <a:pPr marL="0" indent="0">
              <a:buNone/>
            </a:pPr>
            <a:r>
              <a:rPr lang="en-AU" sz="900" dirty="0">
                <a:solidFill>
                  <a:srgbClr val="234061"/>
                </a:solidFill>
                <a:latin typeface="Avenir Book" panose="02000503020000020003" pitchFamily="2" charset="0"/>
              </a:rPr>
              <a:t>Clause 9: </a:t>
            </a:r>
            <a:r>
              <a:rPr lang="en-AU" sz="900" b="1" dirty="0">
                <a:solidFill>
                  <a:srgbClr val="234061"/>
                </a:solidFill>
                <a:latin typeface="Avenir Book" panose="02000503020000020003" pitchFamily="2" charset="0"/>
              </a:rPr>
              <a:t>Annotation properties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AU" sz="900" dirty="0">
              <a:solidFill>
                <a:srgbClr val="234061"/>
              </a:solidFill>
              <a:latin typeface="Avenir Book" panose="02000503020000020003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AU" sz="900" dirty="0">
              <a:solidFill>
                <a:srgbClr val="234061"/>
              </a:solidFill>
              <a:latin typeface="Avenir Book" panose="02000503020000020003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FE4357-4FB2-1ABC-F7B6-4341E196660F}"/>
              </a:ext>
            </a:extLst>
          </p:cNvPr>
          <p:cNvSpPr/>
          <p:nvPr/>
        </p:nvSpPr>
        <p:spPr>
          <a:xfrm>
            <a:off x="63610" y="842963"/>
            <a:ext cx="5662316" cy="37846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88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5BBD69-FAAF-C63E-D3F4-BCE03995187E}"/>
              </a:ext>
            </a:extLst>
          </p:cNvPr>
          <p:cNvSpPr txBox="1"/>
          <p:nvPr/>
        </p:nvSpPr>
        <p:spPr>
          <a:xfrm>
            <a:off x="5801146" y="842963"/>
            <a:ext cx="327924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234061"/>
                </a:solidFill>
                <a:latin typeface="Avenir Book" panose="02000503020000020003" pitchFamily="2" charset="0"/>
              </a:rPr>
              <a:t>For more information:</a:t>
            </a:r>
          </a:p>
          <a:p>
            <a:endParaRPr lang="en-AU" dirty="0">
              <a:solidFill>
                <a:srgbClr val="234061"/>
              </a:solidFill>
              <a:latin typeface="Avenir Book" panose="02000503020000020003" pitchFamily="2" charset="0"/>
            </a:endParaRPr>
          </a:p>
          <a:p>
            <a:r>
              <a:rPr lang="en-AU" dirty="0">
                <a:solidFill>
                  <a:srgbClr val="234061"/>
                </a:solidFill>
                <a:latin typeface="Avenir Book" panose="02000503020000020003" pitchFamily="2" charset="0"/>
              </a:rPr>
              <a:t>A pre-ISO submission version of Part 1 is available at: </a:t>
            </a:r>
          </a:p>
          <a:p>
            <a:endParaRPr lang="en-AU" dirty="0">
              <a:latin typeface="Avenir Book" panose="02000503020000020003" pitchFamily="2" charset="0"/>
            </a:endParaRPr>
          </a:p>
          <a:p>
            <a:r>
              <a:rPr lang="en-AU" dirty="0">
                <a:latin typeface="Avenir Book" panose="02000503020000020003" pitchFamily="2" charset="0"/>
                <a:hlinkClick r:id="rId3"/>
              </a:rPr>
              <a:t>https://pca-posc-caesar-association.github.io/Public_ISO23726-1/latest/</a:t>
            </a:r>
            <a:r>
              <a:rPr lang="en-AU" dirty="0">
                <a:latin typeface="Avenir Book" panose="02000503020000020003" pitchFamily="2" charset="0"/>
              </a:rPr>
              <a:t> </a:t>
            </a:r>
          </a:p>
          <a:p>
            <a:endParaRPr lang="en-AU" dirty="0">
              <a:latin typeface="Avenir Book" panose="02000503020000020003" pitchFamily="2" charset="0"/>
            </a:endParaRPr>
          </a:p>
          <a:p>
            <a:r>
              <a:rPr lang="en-AU" dirty="0">
                <a:solidFill>
                  <a:srgbClr val="234061"/>
                </a:solidFill>
                <a:latin typeface="Avenir Book" panose="02000503020000020003" pitchFamily="2" charset="0"/>
              </a:rPr>
              <a:t>An FDIS version of the ISO </a:t>
            </a:r>
            <a:r>
              <a:rPr lang="en-AU" dirty="0" err="1">
                <a:solidFill>
                  <a:srgbClr val="234061"/>
                </a:solidFill>
                <a:latin typeface="Avenir Book" panose="02000503020000020003" pitchFamily="2" charset="0"/>
              </a:rPr>
              <a:t>ttl</a:t>
            </a:r>
            <a:r>
              <a:rPr lang="en-AU" dirty="0">
                <a:solidFill>
                  <a:srgbClr val="234061"/>
                </a:solidFill>
                <a:latin typeface="Avenir Book" panose="02000503020000020003" pitchFamily="2" charset="0"/>
              </a:rPr>
              <a:t> file is available at </a:t>
            </a:r>
          </a:p>
          <a:p>
            <a:endParaRPr lang="en-AU" dirty="0">
              <a:latin typeface="Avenir Book" panose="02000503020000020003" pitchFamily="2" charset="0"/>
            </a:endParaRPr>
          </a:p>
          <a:p>
            <a:r>
              <a:rPr lang="en-AU" dirty="0">
                <a:latin typeface="Avenir Book" panose="02000503020000020003" pitchFamily="2" charset="0"/>
                <a:hlinkClick r:id="rId4"/>
              </a:rPr>
              <a:t>https://posccaesar.org/articles/fdis-version-of-ido---industrial-data-ontology-now-available-for-download-as-a-file</a:t>
            </a:r>
            <a:r>
              <a:rPr lang="en-AU" dirty="0">
                <a:latin typeface="Avenir Book" panose="02000503020000020003" pitchFamily="2" charset="0"/>
              </a:rPr>
              <a:t> </a:t>
            </a:r>
          </a:p>
          <a:p>
            <a:endParaRPr lang="en-AU" dirty="0">
              <a:solidFill>
                <a:srgbClr val="234061"/>
              </a:solidFill>
              <a:latin typeface="Avenir Book" panose="02000503020000020003" pitchFamily="2" charset="0"/>
            </a:endParaRPr>
          </a:p>
          <a:p>
            <a:r>
              <a:rPr lang="en-AU" dirty="0">
                <a:solidFill>
                  <a:srgbClr val="234061"/>
                </a:solidFill>
                <a:latin typeface="Avenir Book" panose="02000503020000020003" pitchFamily="2" charset="0"/>
              </a:rPr>
              <a:t>Contact: </a:t>
            </a:r>
            <a:r>
              <a:rPr lang="en-AU" dirty="0">
                <a:latin typeface="Avenir Book" panose="02000503020000020003" pitchFamily="2" charset="0"/>
                <a:hlinkClick r:id="rId5"/>
              </a:rPr>
              <a:t>Melinda.Hodkiewicz@uwa.edu.au</a:t>
            </a:r>
            <a:r>
              <a:rPr lang="en-AU" dirty="0">
                <a:latin typeface="Avenir Book" panose="02000503020000020003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727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A116-7A59-3E7D-CEAF-DF2BDEE4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3E32-1C5C-3855-A34B-6E3BA940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64" y="1737968"/>
            <a:ext cx="5765555" cy="1331631"/>
          </a:xfrm>
        </p:spPr>
        <p:txBody>
          <a:bodyPr/>
          <a:lstStyle/>
          <a:p>
            <a:r>
              <a:rPr lang="en-US" dirty="0"/>
              <a:t>Modelling ATED as a Semantic Web vocabulary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90EA2-13E9-3CE7-C59B-01CE840BA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223" y="3069599"/>
            <a:ext cx="5765555" cy="482272"/>
          </a:xfrm>
        </p:spPr>
        <p:txBody>
          <a:bodyPr/>
          <a:lstStyle/>
          <a:p>
            <a:pPr marL="9525" indent="0" algn="ctr">
              <a:buNone/>
            </a:pPr>
            <a:r>
              <a:rPr lang="en-US" sz="1800" dirty="0"/>
              <a:t>Speaker: Les Kneebone, </a:t>
            </a:r>
            <a:r>
              <a:rPr lang="en-US" sz="1800" dirty="0" err="1"/>
              <a:t>KurrawongAI</a:t>
            </a:r>
            <a:endParaRPr lang="en-US" sz="1800" dirty="0"/>
          </a:p>
        </p:txBody>
      </p:sp>
      <p:pic>
        <p:nvPicPr>
          <p:cNvPr id="4" name="Shape 91" descr="AGLDWG logo">
            <a:extLst>
              <a:ext uri="{FF2B5EF4-FFF2-40B4-BE49-F238E27FC236}">
                <a16:creationId xmlns:a16="http://schemas.microsoft.com/office/drawing/2014/main" id="{FBBDB905-F207-2819-9C48-146B70FDA5E3}"/>
              </a:ext>
            </a:extLst>
          </p:cNvPr>
          <p:cNvPicPr preferRelativeResize="0"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6602" y="0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0230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A9A48-856D-3B9A-34C2-C007038EA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CF911B-D1A2-3C25-30C9-D1B72DFE3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90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381C5-2BBE-B38A-70B8-4972A53AA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2A58-93A0-7F6C-5DB5-13939135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64" y="1737968"/>
            <a:ext cx="5765555" cy="1331631"/>
          </a:xfrm>
        </p:spPr>
        <p:txBody>
          <a:bodyPr/>
          <a:lstStyle/>
          <a:p>
            <a:r>
              <a:rPr lang="en-US" dirty="0"/>
              <a:t>Linked Data Road Networks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C836D-1C28-C0E3-322F-4A39E4645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223" y="3069599"/>
            <a:ext cx="5765555" cy="482272"/>
          </a:xfrm>
        </p:spPr>
        <p:txBody>
          <a:bodyPr/>
          <a:lstStyle/>
          <a:p>
            <a:pPr marL="9525" indent="0" algn="ctr">
              <a:buNone/>
            </a:pPr>
            <a:r>
              <a:rPr lang="en-US" sz="1800" dirty="0"/>
              <a:t>Speaker: Matt Duckham, RMIT</a:t>
            </a:r>
          </a:p>
        </p:txBody>
      </p:sp>
      <p:pic>
        <p:nvPicPr>
          <p:cNvPr id="4" name="Shape 91" descr="AGLDWG logo">
            <a:extLst>
              <a:ext uri="{FF2B5EF4-FFF2-40B4-BE49-F238E27FC236}">
                <a16:creationId xmlns:a16="http://schemas.microsoft.com/office/drawing/2014/main" id="{E07D9CF8-3C48-3A0F-7FDF-CBEBB5AE5BF9}"/>
              </a:ext>
            </a:extLst>
          </p:cNvPr>
          <p:cNvPicPr preferRelativeResize="0"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6602" y="0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92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02951-4ED9-F758-E234-017181EF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49547-EC91-894F-43BA-D28A77936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64" y="1737968"/>
            <a:ext cx="5765555" cy="1331631"/>
          </a:xfrm>
        </p:spPr>
        <p:txBody>
          <a:bodyPr/>
          <a:lstStyle/>
          <a:p>
            <a:r>
              <a:rPr lang="en-US" dirty="0" err="1"/>
              <a:t>GeoSPARQL</a:t>
            </a:r>
            <a:r>
              <a:rPr lang="en-US" dirty="0"/>
              <a:t>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BCB5F-7EFF-6097-C079-84E7383E4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223" y="3069599"/>
            <a:ext cx="5765555" cy="482272"/>
          </a:xfrm>
        </p:spPr>
        <p:txBody>
          <a:bodyPr/>
          <a:lstStyle/>
          <a:p>
            <a:pPr marL="9525" indent="0" algn="ctr">
              <a:buNone/>
            </a:pPr>
            <a:r>
              <a:rPr lang="en-US" sz="1800" dirty="0"/>
              <a:t>Speaker: Edmond Chuc, </a:t>
            </a:r>
            <a:r>
              <a:rPr lang="en-US" sz="1800" dirty="0" err="1"/>
              <a:t>KurrawongAI</a:t>
            </a:r>
            <a:endParaRPr lang="en-US" sz="1800" dirty="0"/>
          </a:p>
        </p:txBody>
      </p:sp>
      <p:pic>
        <p:nvPicPr>
          <p:cNvPr id="4" name="Shape 91" descr="AGLDWG logo">
            <a:extLst>
              <a:ext uri="{FF2B5EF4-FFF2-40B4-BE49-F238E27FC236}">
                <a16:creationId xmlns:a16="http://schemas.microsoft.com/office/drawing/2014/main" id="{AD6DC489-B7B8-6A98-FD69-71B56EC7C662}"/>
              </a:ext>
            </a:extLst>
          </p:cNvPr>
          <p:cNvPicPr preferRelativeResize="0"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6602" y="0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3925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D5687-BEFE-CE5E-4708-1656C63F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62DF-F891-FD63-6134-7C6ACC4B3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64" y="1737968"/>
            <a:ext cx="5765555" cy="1331631"/>
          </a:xfrm>
        </p:spPr>
        <p:txBody>
          <a:bodyPr/>
          <a:lstStyle/>
          <a:p>
            <a:r>
              <a:rPr lang="en-US" dirty="0"/>
              <a:t>Carapace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31E4A-A425-2D8E-E0A7-47EC80C90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223" y="3069599"/>
            <a:ext cx="5765555" cy="482272"/>
          </a:xfrm>
        </p:spPr>
        <p:txBody>
          <a:bodyPr/>
          <a:lstStyle/>
          <a:p>
            <a:pPr marL="9525" indent="0" algn="ctr">
              <a:buNone/>
            </a:pPr>
            <a:r>
              <a:rPr lang="en-US" sz="1800" dirty="0"/>
              <a:t>Speaker: Heidi Leow, UWA</a:t>
            </a:r>
          </a:p>
        </p:txBody>
      </p:sp>
      <p:pic>
        <p:nvPicPr>
          <p:cNvPr id="4" name="Shape 91" descr="AGLDWG logo">
            <a:extLst>
              <a:ext uri="{FF2B5EF4-FFF2-40B4-BE49-F238E27FC236}">
                <a16:creationId xmlns:a16="http://schemas.microsoft.com/office/drawing/2014/main" id="{79CAC8F1-0E62-BE64-BF41-917264B7E164}"/>
              </a:ext>
            </a:extLst>
          </p:cNvPr>
          <p:cNvPicPr preferRelativeResize="0"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6602" y="0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391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E037F8-0B6A-A04C-0F9B-04C267F4C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19" y="0"/>
            <a:ext cx="74985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96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B06D-2874-76E8-DE0E-7B10490B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B6F4-ABAB-F27B-50F7-C4832E68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64" y="1737968"/>
            <a:ext cx="5765555" cy="1331631"/>
          </a:xfrm>
        </p:spPr>
        <p:txBody>
          <a:bodyPr/>
          <a:lstStyle/>
          <a:p>
            <a:r>
              <a:rPr lang="en-US" dirty="0" err="1"/>
              <a:t>RDFLib</a:t>
            </a:r>
            <a:r>
              <a:rPr lang="en-US" dirty="0"/>
              <a:t> &amp; Family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654E6-03AA-7A7B-AA3D-663D04174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223" y="3069599"/>
            <a:ext cx="5765555" cy="482272"/>
          </a:xfrm>
        </p:spPr>
        <p:txBody>
          <a:bodyPr/>
          <a:lstStyle/>
          <a:p>
            <a:pPr marL="9525" indent="0" algn="ctr">
              <a:buNone/>
            </a:pPr>
            <a:r>
              <a:rPr lang="en-US" sz="1800" dirty="0"/>
              <a:t>Speaker: Nicholas Car, </a:t>
            </a:r>
            <a:r>
              <a:rPr lang="en-US" sz="1800" dirty="0" err="1"/>
              <a:t>KurrawongAI</a:t>
            </a:r>
            <a:endParaRPr lang="en-US" sz="1800" dirty="0"/>
          </a:p>
        </p:txBody>
      </p:sp>
      <p:pic>
        <p:nvPicPr>
          <p:cNvPr id="4" name="Shape 91" descr="AGLDWG logo">
            <a:extLst>
              <a:ext uri="{FF2B5EF4-FFF2-40B4-BE49-F238E27FC236}">
                <a16:creationId xmlns:a16="http://schemas.microsoft.com/office/drawing/2014/main" id="{687AD8FB-1924-A0F3-702F-5B221C15F0E7}"/>
              </a:ext>
            </a:extLst>
          </p:cNvPr>
          <p:cNvPicPr preferRelativeResize="0"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6602" y="0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183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1A89F-FA5D-2DA1-1CED-EDCBAE14C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8654" y="112142"/>
            <a:ext cx="7800456" cy="4931572"/>
          </a:xfrm>
        </p:spPr>
        <p:txBody>
          <a:bodyPr/>
          <a:lstStyle/>
          <a:p>
            <a:pPr marL="9525" indent="0">
              <a:buNone/>
            </a:pPr>
            <a:r>
              <a:rPr lang="en-AU" sz="2000" b="1" dirty="0" err="1"/>
              <a:t>RDFLib</a:t>
            </a:r>
            <a:r>
              <a:rPr lang="en-AU" sz="2000" dirty="0"/>
              <a:t>: Open-Source Python package for working with RDF</a:t>
            </a:r>
            <a:br>
              <a:rPr lang="en-AU" sz="2000" dirty="0"/>
            </a:br>
            <a:endParaRPr lang="en-AU" sz="2000" dirty="0"/>
          </a:p>
          <a:p>
            <a:pPr marL="9525" indent="0">
              <a:buNone/>
            </a:pPr>
            <a:r>
              <a:rPr lang="en-AU" sz="2000" b="1" dirty="0" err="1"/>
              <a:t>Quickstart</a:t>
            </a:r>
            <a:endParaRPr lang="en-AU" sz="2000" b="1" dirty="0"/>
          </a:p>
          <a:p>
            <a:pPr marL="9525" indent="0">
              <a:buNone/>
            </a:pPr>
            <a:endParaRPr lang="en-AU" sz="2000" dirty="0"/>
          </a:p>
          <a:p>
            <a:pPr marL="9525" indent="0">
              <a:buNone/>
            </a:pPr>
            <a:endParaRPr lang="en-AU" sz="2000" dirty="0"/>
          </a:p>
          <a:p>
            <a:pPr marL="9525" indent="0">
              <a:buNone/>
            </a:pPr>
            <a:endParaRPr lang="en-AU" sz="2000" dirty="0"/>
          </a:p>
          <a:p>
            <a:pPr marL="9525" indent="0">
              <a:buNone/>
            </a:pPr>
            <a:endParaRPr lang="en-AU" sz="2000" dirty="0"/>
          </a:p>
          <a:p>
            <a:pPr marL="9525" indent="0">
              <a:buNone/>
            </a:pPr>
            <a:r>
              <a:rPr lang="en-AU" sz="2000" b="1" dirty="0"/>
              <a:t>Roles		</a:t>
            </a:r>
            <a:r>
              <a:rPr lang="en-AU" sz="1600" dirty="0"/>
              <a:t>Easy scripting, teaching, </a:t>
            </a:r>
            <a:r>
              <a:rPr lang="en-AU" sz="1600" dirty="0" err="1"/>
              <a:t>infracode</a:t>
            </a:r>
            <a:r>
              <a:rPr lang="en-AU" sz="1600" dirty="0"/>
              <a:t>, W3C proofs</a:t>
            </a:r>
            <a:br>
              <a:rPr lang="en-AU" sz="1600" dirty="0"/>
            </a:br>
            <a:endParaRPr lang="en-AU" sz="2000" dirty="0"/>
          </a:p>
          <a:p>
            <a:pPr marL="9525" indent="0">
              <a:buNone/>
            </a:pPr>
            <a:r>
              <a:rPr lang="en-AU" sz="2000" b="1" dirty="0"/>
              <a:t>History/Future</a:t>
            </a:r>
            <a:r>
              <a:rPr lang="en-AU" sz="2000" dirty="0"/>
              <a:t>	</a:t>
            </a:r>
            <a:r>
              <a:rPr lang="en-AU" sz="1600" dirty="0"/>
              <a:t>2002 – now! / 8.0.0 in 2026. Python &amp; W3C influences forward</a:t>
            </a:r>
            <a:br>
              <a:rPr lang="en-AU" sz="1600" dirty="0"/>
            </a:br>
            <a:br>
              <a:rPr lang="en-AU" sz="1600" dirty="0"/>
            </a:br>
            <a:r>
              <a:rPr lang="en-AU" sz="2000" b="1" dirty="0"/>
              <a:t>Family</a:t>
            </a:r>
            <a:r>
              <a:rPr lang="en-AU" sz="1600" b="1" dirty="0"/>
              <a:t>		</a:t>
            </a:r>
            <a:r>
              <a:rPr lang="en-AU" sz="1600" dirty="0">
                <a:hlinkClick r:id="rId2"/>
              </a:rPr>
              <a:t>https://rdflib.dev</a:t>
            </a:r>
            <a:r>
              <a:rPr lang="en-AU" sz="1600" dirty="0"/>
              <a:t>, but now also </a:t>
            </a:r>
            <a:r>
              <a:rPr lang="en-AU" sz="1600" dirty="0">
                <a:hlinkClick r:id="rId3"/>
              </a:rPr>
              <a:t>kurra</a:t>
            </a:r>
            <a:r>
              <a:rPr lang="en-AU" sz="1600" dirty="0"/>
              <a:t> &amp; </a:t>
            </a:r>
            <a:r>
              <a:rPr lang="en-AU" sz="1600" dirty="0">
                <a:hlinkClick r:id="rId4"/>
              </a:rPr>
              <a:t>KGM</a:t>
            </a:r>
            <a:endParaRPr lang="en-AU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1B0E1-4CD5-0A15-A6C4-B692F8566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48653" cy="124865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483CAD3-D2C8-FDE5-21A4-8CAA14F266AA}"/>
              </a:ext>
            </a:extLst>
          </p:cNvPr>
          <p:cNvGrpSpPr/>
          <p:nvPr/>
        </p:nvGrpSpPr>
        <p:grpSpPr>
          <a:xfrm>
            <a:off x="3087332" y="938709"/>
            <a:ext cx="3414875" cy="533400"/>
            <a:chOff x="4979825" y="1006021"/>
            <a:chExt cx="3414875" cy="533400"/>
          </a:xfrm>
        </p:grpSpPr>
        <p:pic>
          <p:nvPicPr>
            <p:cNvPr id="5" name="Picture 4">
              <a:hlinkClick r:id="rId6"/>
              <a:extLst>
                <a:ext uri="{FF2B5EF4-FFF2-40B4-BE49-F238E27FC236}">
                  <a16:creationId xmlns:a16="http://schemas.microsoft.com/office/drawing/2014/main" id="{1255E194-4B1B-5C37-6322-BBED6A2B9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34100" y="1006021"/>
              <a:ext cx="2260600" cy="533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F60FB9C-7122-C73E-BA38-4DACAC146F61}"/>
                </a:ext>
              </a:extLst>
            </p:cNvPr>
            <p:cNvSpPr txBox="1"/>
            <p:nvPr/>
          </p:nvSpPr>
          <p:spPr>
            <a:xfrm>
              <a:off x="4979825" y="1072666"/>
              <a:ext cx="1236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234061"/>
                  </a:solidFill>
                  <a:latin typeface="Avenir Book" panose="02000503020000020003" pitchFamily="2" charset="0"/>
                </a:rPr>
                <a:t>Click me: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24B3C72-658E-A3B7-9570-AD335FA085CB}"/>
              </a:ext>
            </a:extLst>
          </p:cNvPr>
          <p:cNvSpPr txBox="1"/>
          <p:nvPr/>
        </p:nvSpPr>
        <p:spPr>
          <a:xfrm>
            <a:off x="3087332" y="1528180"/>
            <a:ext cx="5125121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rdflib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Graph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 = Graph()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g.parse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(“my-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file.ttl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r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g.subjects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RDF.type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SKOS.Concept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print(r[0])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EACA15-FC89-1500-EAAF-B5F205E854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5029" y="4242127"/>
            <a:ext cx="765662" cy="5004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EACDAA-6EE5-DBB6-80B3-146EE996778A}"/>
              </a:ext>
            </a:extLst>
          </p:cNvPr>
          <p:cNvSpPr txBox="1"/>
          <p:nvPr/>
        </p:nvSpPr>
        <p:spPr>
          <a:xfrm>
            <a:off x="-35325" y="1318220"/>
            <a:ext cx="1435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https://rdflib.dev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3829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4D479-B7F5-70C9-5632-6DB3BD4A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4003-8DD7-C0AB-642F-4354418B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64" y="1737968"/>
            <a:ext cx="5765555" cy="1331631"/>
          </a:xfrm>
        </p:spPr>
        <p:txBody>
          <a:bodyPr/>
          <a:lstStyle/>
          <a:p>
            <a:r>
              <a:rPr lang="en-US" sz="3600" dirty="0"/>
              <a:t>AGLDWG/Finance CA3 Project Peer Review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3C7EC-2B39-D4A7-179F-C25792ACC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223" y="3069599"/>
            <a:ext cx="5765555" cy="482272"/>
          </a:xfrm>
        </p:spPr>
        <p:txBody>
          <a:bodyPr/>
          <a:lstStyle/>
          <a:p>
            <a:pPr marL="9525" indent="0" algn="ctr">
              <a:buNone/>
            </a:pPr>
            <a:r>
              <a:rPr lang="en-US" sz="1800" dirty="0"/>
              <a:t>Speaker: Alastair Paton, independent</a:t>
            </a:r>
          </a:p>
        </p:txBody>
      </p:sp>
      <p:pic>
        <p:nvPicPr>
          <p:cNvPr id="4" name="Shape 91" descr="AGLDWG logo">
            <a:extLst>
              <a:ext uri="{FF2B5EF4-FFF2-40B4-BE49-F238E27FC236}">
                <a16:creationId xmlns:a16="http://schemas.microsoft.com/office/drawing/2014/main" id="{C7F0F681-30A6-3614-B603-880DF047C98E}"/>
              </a:ext>
            </a:extLst>
          </p:cNvPr>
          <p:cNvPicPr preferRelativeResize="0"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6602" y="0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7444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C5B3E1-6149-2C08-353E-32C2A0526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79" y="0"/>
            <a:ext cx="773444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94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3772B-7257-D49B-7726-AA3065D7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F4A64-3A03-24AA-6C5A-82B76ABD7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64" y="1737968"/>
            <a:ext cx="5765555" cy="1331631"/>
          </a:xfrm>
        </p:spPr>
        <p:txBody>
          <a:bodyPr/>
          <a:lstStyle/>
          <a:p>
            <a:r>
              <a:rPr lang="en-US" dirty="0"/>
              <a:t>Producing High-Quality Semantic Representations of Standards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46CD9-5E5E-400C-3123-81101DA97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223" y="3069599"/>
            <a:ext cx="5765555" cy="482272"/>
          </a:xfrm>
        </p:spPr>
        <p:txBody>
          <a:bodyPr/>
          <a:lstStyle/>
          <a:p>
            <a:pPr marL="9525" indent="0" algn="ctr">
              <a:buNone/>
            </a:pPr>
            <a:r>
              <a:rPr lang="en-US" sz="1800" dirty="0"/>
              <a:t>Speaker: Adib Rohani, UWA</a:t>
            </a:r>
          </a:p>
        </p:txBody>
      </p:sp>
      <p:pic>
        <p:nvPicPr>
          <p:cNvPr id="4" name="Shape 91" descr="AGLDWG logo">
            <a:extLst>
              <a:ext uri="{FF2B5EF4-FFF2-40B4-BE49-F238E27FC236}">
                <a16:creationId xmlns:a16="http://schemas.microsoft.com/office/drawing/2014/main" id="{373F6F42-76F4-EE66-1AF0-74FB8A1A2ED6}"/>
              </a:ext>
            </a:extLst>
          </p:cNvPr>
          <p:cNvPicPr preferRelativeResize="0"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6602" y="0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1944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42E3-8718-0FB4-88BD-C6ADC26F0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D1D0A1-4842-61E6-AB47-AE6E853B56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79" r="23161"/>
          <a:stretch>
            <a:fillRect/>
          </a:stretch>
        </p:blipFill>
        <p:spPr>
          <a:xfrm>
            <a:off x="0" y="0"/>
            <a:ext cx="9132750" cy="46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03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F835-2D01-10EB-4A68-1EC0F8003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62374-B76A-5D29-5AAB-E7FDE9661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64" y="1737968"/>
            <a:ext cx="5765555" cy="1331631"/>
          </a:xfrm>
        </p:spPr>
        <p:txBody>
          <a:bodyPr/>
          <a:lstStyle/>
          <a:p>
            <a:r>
              <a:rPr lang="en-US" dirty="0"/>
              <a:t>IDN Metadata Entry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AEAF7-F5BB-F5CD-7F68-C0F2AE0E0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223" y="3069599"/>
            <a:ext cx="5765555" cy="482272"/>
          </a:xfrm>
        </p:spPr>
        <p:txBody>
          <a:bodyPr/>
          <a:lstStyle/>
          <a:p>
            <a:pPr marL="9525" indent="0" algn="ctr">
              <a:buNone/>
            </a:pPr>
            <a:r>
              <a:rPr lang="en-US" sz="1800" dirty="0"/>
              <a:t>Speaker: Jamie Feiss, Uni Melbourne</a:t>
            </a:r>
          </a:p>
        </p:txBody>
      </p:sp>
      <p:pic>
        <p:nvPicPr>
          <p:cNvPr id="4" name="Shape 91" descr="AGLDWG logo">
            <a:extLst>
              <a:ext uri="{FF2B5EF4-FFF2-40B4-BE49-F238E27FC236}">
                <a16:creationId xmlns:a16="http://schemas.microsoft.com/office/drawing/2014/main" id="{043A2485-CEDA-BD4D-AAAF-64FD0FE6A99B}"/>
              </a:ext>
            </a:extLst>
          </p:cNvPr>
          <p:cNvPicPr preferRelativeResize="0"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6602" y="0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8959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D3523E-2E62-2EB7-57DD-6F836EACF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532" y="0"/>
            <a:ext cx="73909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7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title"/>
          </p:nvPr>
        </p:nvSpPr>
        <p:spPr>
          <a:xfrm>
            <a:off x="1684735" y="1160060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dirty="0"/>
              <a:t>Australian Government Linked Data Working Group contact:</a:t>
            </a:r>
            <a:endParaRPr dirty="0"/>
          </a:p>
        </p:txBody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1684735" y="235547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pPr marL="0" indent="0">
              <a:spcBef>
                <a:spcPts val="0"/>
              </a:spcBef>
              <a:buClr>
                <a:srgbClr val="723C3D"/>
              </a:buClr>
              <a:buSzPts val="2400"/>
            </a:pPr>
            <a:r>
              <a:rPr lang="en-US" sz="1800" u="sng" dirty="0">
                <a:solidFill>
                  <a:srgbClr val="723C3D"/>
                </a:solidFill>
                <a:latin typeface="Courier" pitchFamily="2" charset="0"/>
                <a:ea typeface="Calibri"/>
                <a:cs typeface="Calibri"/>
                <a:sym typeface="Calibri"/>
              </a:rPr>
              <a:t>http://</a:t>
            </a:r>
            <a:r>
              <a:rPr lang="en-US" sz="1800" u="sng" dirty="0" err="1">
                <a:solidFill>
                  <a:srgbClr val="723C3D"/>
                </a:solidFill>
                <a:latin typeface="Courier" pitchFamily="2" charset="0"/>
                <a:ea typeface="Calibri"/>
                <a:cs typeface="Calibri"/>
                <a:sym typeface="Calibri"/>
              </a:rPr>
              <a:t>www.linked.data.gov.au</a:t>
            </a:r>
            <a:endParaRPr dirty="0">
              <a:latin typeface="Courier" pitchFamily="2" charset="0"/>
            </a:endParaRPr>
          </a:p>
          <a:p>
            <a:pPr marL="0" indent="0">
              <a:spcBef>
                <a:spcPts val="1200"/>
              </a:spcBef>
            </a:pPr>
            <a:endParaRPr dirty="0"/>
          </a:p>
        </p:txBody>
      </p:sp>
      <p:pic>
        <p:nvPicPr>
          <p:cNvPr id="2" name="Shape 91" descr="AGLDWG logo">
            <a:extLst>
              <a:ext uri="{FF2B5EF4-FFF2-40B4-BE49-F238E27FC236}">
                <a16:creationId xmlns:a16="http://schemas.microsoft.com/office/drawing/2014/main" id="{4D66B36D-BCB0-C3C1-1A6F-0FFA020F30D0}"/>
              </a:ext>
            </a:extLst>
          </p:cNvPr>
          <p:cNvPicPr preferRelativeResize="0"/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1283493" y="122664"/>
            <a:ext cx="1071563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23C3D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597</Words>
  <Application>Microsoft Macintosh PowerPoint</Application>
  <PresentationFormat>On-screen Show (16:9)</PresentationFormat>
  <Paragraphs>103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Avenir</vt:lpstr>
      <vt:lpstr>Avenir Book</vt:lpstr>
      <vt:lpstr>Calibri</vt:lpstr>
      <vt:lpstr>Courier</vt:lpstr>
      <vt:lpstr>Courier New</vt:lpstr>
      <vt:lpstr>Office Theme</vt:lpstr>
      <vt:lpstr>AGLDWG AGM 2026  Project Presentations</vt:lpstr>
      <vt:lpstr>Speakers</vt:lpstr>
      <vt:lpstr>Ontology-based interoperability of standards</vt:lpstr>
      <vt:lpstr>Why the Industrial automation systems and integration – Ontology based interoperability (OBI) standards?</vt:lpstr>
      <vt:lpstr>ISO/CD 23726-1 Overview and fundamental principles</vt:lpstr>
      <vt:lpstr>Modelling ATED as a Semantic Web vocabulary</vt:lpstr>
      <vt:lpstr>PowerPoint Presentation</vt:lpstr>
      <vt:lpstr>Linked Data Road Networks</vt:lpstr>
      <vt:lpstr>GeoSPARQL Implementation</vt:lpstr>
      <vt:lpstr>Carapace</vt:lpstr>
      <vt:lpstr>PowerPoint Presentation</vt:lpstr>
      <vt:lpstr>RDFLib &amp; Family</vt:lpstr>
      <vt:lpstr>PowerPoint Presentation</vt:lpstr>
      <vt:lpstr>AGLDWG/Finance CA3 Project Peer Review</vt:lpstr>
      <vt:lpstr>PowerPoint Presentation</vt:lpstr>
      <vt:lpstr>Producing High-Quality Semantic Representations of Standards</vt:lpstr>
      <vt:lpstr>PowerPoint Presentation</vt:lpstr>
      <vt:lpstr>IDN Metadata Entry Tool</vt:lpstr>
      <vt:lpstr>PowerPoint Presentation</vt:lpstr>
      <vt:lpstr>Australian Government Linked Data Working Group contact: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Australian Government Linked Data Working Group (AGLDWG)</dc:title>
  <cp:lastModifiedBy>Nicholas Car</cp:lastModifiedBy>
  <cp:revision>12</cp:revision>
  <dcterms:modified xsi:type="dcterms:W3CDTF">2026-08-13T03:26:13Z</dcterms:modified>
</cp:coreProperties>
</file>